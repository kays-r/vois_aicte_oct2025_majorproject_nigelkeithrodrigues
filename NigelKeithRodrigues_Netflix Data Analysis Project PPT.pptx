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9F8C6-E6C8-4F83-9E20-815B0BC7FB21}" v="78" dt="2025-10-16T05:48:45.32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6" d="100"/>
          <a:sy n="96" d="100"/>
        </p:scale>
        <p:origin x="82"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10/19/2025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10/19/2025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10/19/2025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Kays-R/VOIS_AICTE_Oct2025_MajorProject_NigelKeithRodrigue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995283" y="4141999"/>
            <a:ext cx="3717677" cy="861497"/>
          </a:xfrm>
        </p:spPr>
        <p:txBody>
          <a:bodyPr>
            <a:normAutofit fontScale="85000" lnSpcReduction="10000"/>
          </a:bodyPr>
          <a:lstStyle/>
          <a:p>
            <a:pPr algn="r"/>
            <a:r>
              <a:rPr lang="en-US" b="0" dirty="0">
                <a:solidFill>
                  <a:schemeClr val="tx1"/>
                </a:solidFill>
              </a:rPr>
              <a:t>Nigel Keith Rodrigues</a:t>
            </a:r>
          </a:p>
          <a:p>
            <a:pPr algn="r"/>
            <a:r>
              <a:rPr lang="en-US" b="0" dirty="0">
                <a:solidFill>
                  <a:schemeClr val="tx1"/>
                </a:solidFill>
              </a:rPr>
              <a:t>[APPLY_175665028768b45b2fdd9d1]</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693134" y="2050553"/>
            <a:ext cx="5618457" cy="743448"/>
          </a:xfrm>
        </p:spPr>
        <p:txBody>
          <a:bodyPr>
            <a:normAutofit fontScale="90000"/>
          </a:bodyPr>
          <a:lstStyle/>
          <a:p>
            <a:r>
              <a:rPr lang="en-IN" sz="3200" dirty="0"/>
              <a:t>Netflix Content Trend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4700" y="1914255"/>
            <a:ext cx="6431280" cy="3607987"/>
          </a:xfrm>
        </p:spPr>
        <p:txBody>
          <a:bodyPr>
            <a:normAutofit fontScale="85000" lnSpcReduction="10000"/>
          </a:bodyPr>
          <a:lstStyle/>
          <a:p>
            <a:pPr fontAlgn="base"/>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fontAlgn="base"/>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4480D71-BB98-83CB-16F7-66C0D7E45883}"/>
              </a:ext>
            </a:extLst>
          </p:cNvPr>
          <p:cNvSpPr txBox="1"/>
          <p:nvPr/>
        </p:nvSpPr>
        <p:spPr>
          <a:xfrm>
            <a:off x="532673" y="2038176"/>
            <a:ext cx="9601200" cy="3970318"/>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p>
          <a:p>
            <a:pPr>
              <a:buFont typeface="+mj-lt"/>
              <a:buAutoNum type="arabicPeriod"/>
            </a:pPr>
            <a:r>
              <a:rPr lang="en-US" b="1" dirty="0"/>
              <a:t>Identify</a:t>
            </a:r>
            <a:r>
              <a:rPr lang="en-US" dirty="0"/>
              <a:t> the most frequent genres and observe changes in their popularity.</a:t>
            </a:r>
          </a:p>
          <a:p>
            <a:pPr>
              <a:buFont typeface="+mj-lt"/>
              <a:buAutoNum type="arabicPeriod"/>
            </a:pPr>
            <a:r>
              <a:rPr lang="en-US" b="1" dirty="0"/>
              <a:t>Compare</a:t>
            </a:r>
            <a:r>
              <a:rPr lang="en-US" dirty="0"/>
              <a:t> country-wise contributions to Netflix’s content base to assess global diversity.</a:t>
            </a:r>
          </a:p>
          <a:p>
            <a:pPr>
              <a:buFont typeface="+mj-lt"/>
              <a:buAutoNum type="arabicPeriod"/>
            </a:pPr>
            <a:r>
              <a:rPr lang="en-US" b="1" dirty="0"/>
              <a:t>Provide</a:t>
            </a:r>
            <a:r>
              <a:rPr lang="en-US" dirty="0"/>
              <a:t> strategic recommendations for future content acquisition and production.</a:t>
            </a:r>
          </a:p>
          <a:p>
            <a:pPr>
              <a:buNone/>
            </a:pPr>
            <a:br>
              <a:rPr lang="en-US" dirty="0"/>
            </a:br>
            <a:endParaRPr lang="en-US" dirty="0"/>
          </a:p>
          <a:p>
            <a:pPr>
              <a:buNone/>
            </a:pPr>
            <a:r>
              <a:rPr lang="en-US" b="1" dirty="0"/>
              <a:t>Significance of the Study</a:t>
            </a:r>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p>
          <a:p>
            <a:pPr>
              <a:buFont typeface="Arial" panose="020B0604020202020204" pitchFamily="34" charset="0"/>
              <a:buChar char="•"/>
            </a:pPr>
            <a:r>
              <a:rPr lang="en-US" dirty="0"/>
              <a:t>Enhancing </a:t>
            </a:r>
            <a:r>
              <a:rPr lang="en-US" b="1" dirty="0"/>
              <a:t>content strategy</a:t>
            </a:r>
            <a:r>
              <a:rPr lang="en-US" dirty="0"/>
              <a:t> and balancing global vs. local productions.</a:t>
            </a:r>
          </a:p>
          <a:p>
            <a:pPr>
              <a:buFont typeface="Arial" panose="020B0604020202020204" pitchFamily="34" charset="0"/>
              <a:buChar char="•"/>
            </a:pPr>
            <a:r>
              <a:rPr lang="en-US" dirty="0"/>
              <a:t>Recognizing </a:t>
            </a:r>
            <a:r>
              <a:rPr lang="en-US" b="1" dirty="0"/>
              <a:t>market trends</a:t>
            </a:r>
            <a:r>
              <a:rPr lang="en-US" dirty="0"/>
              <a:t> and regional viewer interests.</a:t>
            </a:r>
          </a:p>
          <a:p>
            <a:pPr>
              <a:buFont typeface="Arial" panose="020B0604020202020204" pitchFamily="34" charset="0"/>
              <a:buChar char="•"/>
            </a:pPr>
            <a:r>
              <a:rPr lang="en-US" dirty="0"/>
              <a:t>Supporting </a:t>
            </a:r>
            <a:r>
              <a:rPr lang="en-US" b="1" dirty="0"/>
              <a:t>strategic investments</a:t>
            </a:r>
            <a:r>
              <a:rPr lang="en-US" dirty="0"/>
              <a:t> in specific content types and countries.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A488652-DC56-EC26-5F31-ED7CB8D4D27A}"/>
              </a:ext>
            </a:extLst>
          </p:cNvPr>
          <p:cNvSpPr>
            <a:spLocks noGrp="1" noChangeArrowheads="1"/>
          </p:cNvSpPr>
          <p:nvPr>
            <p:ph type="body" sz="quarter" idx="12"/>
          </p:nvPr>
        </p:nvSpPr>
        <p:spPr bwMode="auto">
          <a:xfrm>
            <a:off x="543443" y="2213310"/>
            <a:ext cx="82926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1886" y="1246961"/>
            <a:ext cx="9027702" cy="5243448"/>
          </a:xfrm>
        </p:spPr>
        <p:txBody>
          <a:bodyPr/>
          <a:lstStyle/>
          <a:p>
            <a:pPr lvl="1">
              <a:lnSpc>
                <a:spcPct val="150000"/>
              </a:lnSpc>
            </a:pPr>
            <a:r>
              <a:rPr lang="en-IN" dirty="0"/>
              <a:t>Python</a:t>
            </a:r>
          </a:p>
          <a:p>
            <a:pPr lvl="1">
              <a:lnSpc>
                <a:spcPct val="150000"/>
              </a:lnSpc>
            </a:pPr>
            <a:r>
              <a:rPr lang="en-IN" dirty="0" err="1"/>
              <a:t>Jupyter</a:t>
            </a:r>
            <a:r>
              <a:rPr lang="en-IN" dirty="0"/>
              <a:t> Notebook</a:t>
            </a:r>
          </a:p>
          <a:p>
            <a:pPr lvl="1">
              <a:lnSpc>
                <a:spcPct val="150000"/>
              </a:lnSpc>
            </a:pPr>
            <a:r>
              <a:rPr lang="en-IN" dirty="0"/>
              <a:t>Google </a:t>
            </a:r>
            <a:r>
              <a:rPr lang="en-IN" dirty="0" err="1"/>
              <a:t>colab</a:t>
            </a:r>
            <a:endParaRPr lang="en-IN" dirty="0"/>
          </a:p>
          <a:p>
            <a:pPr lvl="1">
              <a:lnSpc>
                <a:spcPct val="150000"/>
              </a:lnSpc>
            </a:pPr>
            <a:r>
              <a:rPr lang="en-IN" dirty="0"/>
              <a:t>Matplotlib</a:t>
            </a:r>
          </a:p>
          <a:p>
            <a:pPr lvl="1">
              <a:lnSpc>
                <a:spcPct val="150000"/>
              </a:lnSpc>
            </a:pPr>
            <a:r>
              <a:rPr lang="en-IN" dirty="0" err="1"/>
              <a:t>numpy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2734786-4DEA-9955-BFF8-FDF1EBB84300}"/>
              </a:ext>
            </a:extLst>
          </p:cNvPr>
          <p:cNvSpPr txBox="1"/>
          <p:nvPr/>
        </p:nvSpPr>
        <p:spPr>
          <a:xfrm>
            <a:off x="1037215" y="1751141"/>
            <a:ext cx="49166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Paste the screen shot of your code</a:t>
            </a:r>
          </a:p>
        </p:txBody>
      </p:sp>
      <p:pic>
        <p:nvPicPr>
          <p:cNvPr id="6" name="Picture 5">
            <a:extLst>
              <a:ext uri="{FF2B5EF4-FFF2-40B4-BE49-F238E27FC236}">
                <a16:creationId xmlns:a16="http://schemas.microsoft.com/office/drawing/2014/main" id="{C2BDA07E-3671-3B91-3D2E-2D0285B48340}"/>
              </a:ext>
            </a:extLst>
          </p:cNvPr>
          <p:cNvPicPr>
            <a:picLocks noChangeAspect="1"/>
          </p:cNvPicPr>
          <p:nvPr/>
        </p:nvPicPr>
        <p:blipFill>
          <a:blip r:embed="rId3"/>
          <a:stretch>
            <a:fillRect/>
          </a:stretch>
        </p:blipFill>
        <p:spPr>
          <a:xfrm>
            <a:off x="600069" y="1084921"/>
            <a:ext cx="9800237" cy="558003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8" name="Picture 4">
            <a:extLst>
              <a:ext uri="{FF2B5EF4-FFF2-40B4-BE49-F238E27FC236}">
                <a16:creationId xmlns:a16="http://schemas.microsoft.com/office/drawing/2014/main" id="{E0366370-F5B3-F6A1-4E55-C1BA7BD2F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489" y="1097113"/>
            <a:ext cx="7977534" cy="50231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8E4D911-B404-81F7-7979-2D70380CBA0E}"/>
              </a:ext>
            </a:extLst>
          </p:cNvPr>
          <p:cNvSpPr txBox="1"/>
          <p:nvPr/>
        </p:nvSpPr>
        <p:spPr>
          <a:xfrm>
            <a:off x="320982" y="2135610"/>
            <a:ext cx="2917849" cy="3554819"/>
          </a:xfrm>
          <a:prstGeom prst="rect">
            <a:avLst/>
          </a:prstGeom>
          <a:noFill/>
        </p:spPr>
        <p:txBody>
          <a:bodyPr wrap="square" rtlCol="0">
            <a:spAutoFit/>
          </a:bodyPr>
          <a:lstStyle/>
          <a:p>
            <a:pPr marL="171450" indent="-171450">
              <a:buFont typeface="Arial" panose="020B0604020202020204" pitchFamily="34" charset="0"/>
              <a:buChar char="•"/>
            </a:pPr>
            <a:r>
              <a:rPr lang="en-US" sz="1500" dirty="0"/>
              <a:t>This graph shows the yearly distribution of movies and TV shows released from 2008 to 2021.</a:t>
            </a:r>
          </a:p>
          <a:p>
            <a:pPr marL="171450" indent="-171450">
              <a:buFont typeface="Arial" panose="020B0604020202020204" pitchFamily="34" charset="0"/>
              <a:buChar char="•"/>
            </a:pPr>
            <a:r>
              <a:rPr lang="en-US" sz="1500" dirty="0"/>
              <a:t>Both categories saw minimal growth until 2015, after which releases surged sharply.</a:t>
            </a:r>
          </a:p>
          <a:p>
            <a:pPr marL="171450" indent="-171450">
              <a:buFont typeface="Arial" panose="020B0604020202020204" pitchFamily="34" charset="0"/>
              <a:buChar char="•"/>
            </a:pPr>
            <a:r>
              <a:rPr lang="en-US" sz="1500" dirty="0"/>
              <a:t>Movies peaked around 2019 with over 1,400 releases, while TV shows peaked near 2020 with about 600.</a:t>
            </a:r>
          </a:p>
          <a:p>
            <a:pPr marL="171450" indent="-171450">
              <a:buFont typeface="Arial" panose="020B0604020202020204" pitchFamily="34" charset="0"/>
              <a:buChar char="•"/>
            </a:pPr>
            <a:r>
              <a:rPr lang="en-US" sz="1500" dirty="0"/>
              <a:t>After 2020, both categories saw a steep decline in production.</a:t>
            </a:r>
            <a:endParaRPr lang="en-GB" sz="1500" dirty="0"/>
          </a:p>
        </p:txBody>
      </p:sp>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050" name="Picture 2">
            <a:extLst>
              <a:ext uri="{FF2B5EF4-FFF2-40B4-BE49-F238E27FC236}">
                <a16:creationId xmlns:a16="http://schemas.microsoft.com/office/drawing/2014/main" id="{388EB99C-5132-4D93-6321-A356D64B76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9992" y="1201586"/>
            <a:ext cx="8266051" cy="511590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88CB1D-5226-B79A-4EB9-07C635C43B74}"/>
              </a:ext>
            </a:extLst>
          </p:cNvPr>
          <p:cNvSpPr txBox="1"/>
          <p:nvPr/>
        </p:nvSpPr>
        <p:spPr>
          <a:xfrm>
            <a:off x="111318" y="1941449"/>
            <a:ext cx="2864560" cy="3831818"/>
          </a:xfrm>
          <a:prstGeom prst="rect">
            <a:avLst/>
          </a:prstGeom>
          <a:noFill/>
        </p:spPr>
        <p:txBody>
          <a:bodyPr wrap="square" rtlCol="0">
            <a:spAutoFit/>
          </a:bodyPr>
          <a:lstStyle/>
          <a:p>
            <a:pPr marL="285750" indent="-285750">
              <a:buFont typeface="Arial" panose="020B0604020202020204" pitchFamily="34" charset="0"/>
              <a:buChar char="•"/>
            </a:pPr>
            <a:r>
              <a:rPr lang="en-US" sz="1500" dirty="0"/>
              <a:t>This graph shows trends in the top 10 genres’ popularity from 2008 to 2021.</a:t>
            </a:r>
          </a:p>
          <a:p>
            <a:pPr marL="285750" indent="-285750">
              <a:buFont typeface="Arial" panose="020B0604020202020204" pitchFamily="34" charset="0"/>
              <a:buChar char="•"/>
            </a:pPr>
            <a:r>
              <a:rPr lang="en-US" sz="1500" dirty="0"/>
              <a:t>Dramas and comedies dominated, peaking around 2019 with over 350 and 300 titles respectively.</a:t>
            </a:r>
          </a:p>
          <a:p>
            <a:pPr marL="285750" indent="-285750">
              <a:buFont typeface="Arial" panose="020B0604020202020204" pitchFamily="34" charset="0"/>
              <a:buChar char="•"/>
            </a:pPr>
            <a:r>
              <a:rPr lang="en-US" sz="1500" dirty="0"/>
              <a:t>Most genres saw rapid growth starting from 2015, reaching their highest around 2018–2019.</a:t>
            </a:r>
          </a:p>
          <a:p>
            <a:pPr marL="285750" indent="-285750">
              <a:buFont typeface="Arial" panose="020B0604020202020204" pitchFamily="34" charset="0"/>
              <a:buChar char="•"/>
            </a:pPr>
            <a:r>
              <a:rPr lang="en-US" sz="1500" dirty="0"/>
              <a:t>After 2020, all genres experienced a noticeable decline in new releases.</a:t>
            </a:r>
          </a:p>
          <a:p>
            <a:endParaRPr lang="en-GB" dirty="0"/>
          </a:p>
        </p:txBody>
      </p:sp>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06106"/>
            <a:ext cx="5984161" cy="2579557"/>
          </a:xfrm>
        </p:spPr>
        <p:txBody>
          <a:bodyPr vert="horz" lIns="91440" tIns="45720" rIns="91440" bIns="45720" rtlCol="0" anchor="t">
            <a:normAutofit/>
          </a:bodyPr>
          <a:lstStyle/>
          <a:p>
            <a:pPr marL="0" indent="0">
              <a:buNone/>
            </a:pPr>
            <a:r>
              <a:rPr lang="en-US" dirty="0"/>
              <a:t>[</a:t>
            </a:r>
            <a:r>
              <a:rPr lang="en-US" dirty="0">
                <a:hlinkClick r:id="rId3"/>
              </a:rPr>
              <a:t>https://github.com/Kays-R/VOIS_AICTE_Oct2025_MajorProject_NigelKeithRodrigues.git</a:t>
            </a:r>
            <a:r>
              <a:rPr lang="en-US" dirty="0"/>
              <a:t>]  </a:t>
            </a:r>
          </a:p>
          <a:p>
            <a:pPr marL="0" indent="0">
              <a:buNone/>
            </a:pPr>
            <a:endParaRPr lang="en-US" dirty="0"/>
          </a:p>
          <a:p>
            <a:pPr marL="0" indent="0">
              <a:buNone/>
            </a:pPr>
            <a:r>
              <a:rPr lang="en-US" dirty="0"/>
              <a:t>Create </a:t>
            </a:r>
            <a:r>
              <a:rPr lang="en-US" dirty="0" err="1"/>
              <a:t>github</a:t>
            </a:r>
            <a:r>
              <a:rPr lang="en-US" dirty="0"/>
              <a:t> repository with format VOIS_AICTE_Oct2025_MajorProject_YourName  </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Effect transition="in" filter="fade">
                                      <p:cBhvr>
                                        <p:cTn id="28" dur="1000"/>
                                        <p:tgtEl>
                                          <p:spTgt spid="10">
                                            <p:txEl>
                                              <p:pRg st="2" end="2"/>
                                            </p:txEl>
                                          </p:spTgt>
                                        </p:tgtEl>
                                      </p:cBhvr>
                                    </p:animEffect>
                                    <p:anim calcmode="lin" valueType="num">
                                      <p:cBhvr>
                                        <p:cTn id="2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422496" y="1269585"/>
            <a:ext cx="4275138" cy="477520"/>
          </a:xfrm>
        </p:spPr>
        <p:txBody>
          <a:bodyPr/>
          <a:lstStyle/>
          <a:p>
            <a:pPr marL="0" indent="0">
              <a:buNone/>
            </a:pPr>
            <a:r>
              <a:rPr lang="en-US" dirty="0"/>
              <a:t>[Paste your Certificate Here]</a:t>
            </a:r>
            <a:endParaRPr lang="en-IN" dirty="0"/>
          </a:p>
        </p:txBody>
      </p:sp>
      <p:pic>
        <p:nvPicPr>
          <p:cNvPr id="3" name="Picture 2">
            <a:extLst>
              <a:ext uri="{FF2B5EF4-FFF2-40B4-BE49-F238E27FC236}">
                <a16:creationId xmlns:a16="http://schemas.microsoft.com/office/drawing/2014/main" id="{5BB46AC0-CE6D-6956-9F61-48C019894CF8}"/>
              </a:ext>
            </a:extLst>
          </p:cNvPr>
          <p:cNvPicPr>
            <a:picLocks noChangeAspect="1"/>
          </p:cNvPicPr>
          <p:nvPr/>
        </p:nvPicPr>
        <p:blipFill>
          <a:blip r:embed="rId3"/>
          <a:stretch>
            <a:fillRect/>
          </a:stretch>
        </p:blipFill>
        <p:spPr>
          <a:xfrm>
            <a:off x="559521" y="995431"/>
            <a:ext cx="7893077" cy="5573009"/>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pic>
        <p:nvPicPr>
          <p:cNvPr id="3" name="Picture 2">
            <a:extLst>
              <a:ext uri="{FF2B5EF4-FFF2-40B4-BE49-F238E27FC236}">
                <a16:creationId xmlns:a16="http://schemas.microsoft.com/office/drawing/2014/main" id="{E87DE099-7FDB-4BFB-6457-BBE95F0BB960}"/>
              </a:ext>
            </a:extLst>
          </p:cNvPr>
          <p:cNvPicPr>
            <a:picLocks noChangeAspect="1"/>
          </p:cNvPicPr>
          <p:nvPr/>
        </p:nvPicPr>
        <p:blipFill>
          <a:blip r:embed="rId3"/>
          <a:stretch>
            <a:fillRect/>
          </a:stretch>
        </p:blipFill>
        <p:spPr>
          <a:xfrm>
            <a:off x="833043" y="985810"/>
            <a:ext cx="7906703" cy="5582630"/>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596</TotalTime>
  <Words>526</Words>
  <Application>Microsoft Office PowerPoint</Application>
  <PresentationFormat>Widescreen</PresentationFormat>
  <Paragraphs>54</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Netflix Content Trend Analysis</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Nigel Rodrigues</cp:lastModifiedBy>
  <cp:revision>119</cp:revision>
  <dcterms:created xsi:type="dcterms:W3CDTF">2021-07-11T13:13:15Z</dcterms:created>
  <dcterms:modified xsi:type="dcterms:W3CDTF">2025-10-19T16:33:27Z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